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 last 5 years TCS Stock performence </a:t>
            </a:r>
          </a:p>
        </p:txBody>
      </p:sp>
      <p:sp>
        <p:nvSpPr>
          <p:cNvPr id="3" name="Subtitle 2"/>
          <p:cNvSpPr>
            <a:spLocks noGrp="1"/>
          </p:cNvSpPr>
          <p:nvPr>
            <p:ph type="subTitle" idx="1"/>
          </p:nvPr>
        </p:nvSpPr>
        <p:spPr/>
        <p:txBody>
          <a:bodyPr/>
          <a:lstStyle/>
          <a:p>
            <a:r>
              <a:t>Generated By Ritey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TCS Stock Overview (2019-2024)</a:t>
            </a:r>
          </a:p>
        </p:txBody>
      </p:sp>
      <p:sp>
        <p:nvSpPr>
          <p:cNvPr id="3" name="Content Placeholder 2"/>
          <p:cNvSpPr>
            <a:spLocks noGrp="1"/>
          </p:cNvSpPr>
          <p:nvPr>
            <p:ph idx="1"/>
          </p:nvPr>
        </p:nvSpPr>
        <p:spPr/>
        <p:txBody>
          <a:bodyPr/>
          <a:lstStyle/>
          <a:p>
            <a:pPr>
              <a:spcAft>
                <a:spcPts val="600"/>
              </a:spcAft>
              <a:defRPr sz="1600" b="1"/>
            </a:pPr>
            <a:r>
              <a:t>TCS is a global leader in IT services, consistently ranking among the top 3 IT firms worldwide by revenue, with a strong presence across North America, Europe, and Asia-Pacific. According to Statista, TCS held a 12.5% market share in global IT services in 2023, reflecting its dominant position.</a:t>
            </a:r>
          </a:p>
          <a:p>
            <a:pPr lvl="1">
              <a:spcAft>
                <a:spcPts val="600"/>
              </a:spcAft>
              <a:defRPr sz="1400"/>
            </a:pPr>
            <a:r>
              <a:t>Example: In 2022, TCS reported revenue of $25.7 billion, up from $21.3 billion in 2019, demonstrating sustained growth.</a:t>
            </a:r>
          </a:p>
          <a:p>
            <a:pPr>
              <a:spcAft>
                <a:spcPts val="600"/>
              </a:spcAft>
              <a:defRPr sz="1600" b="1"/>
            </a:pPr>
            <a:r>
              <a:t>Key milestones include the acquisition of Postbank Systems in 2020 to expand fintech capabilities, the launch of TCS BaNCS in 2021 for digital banking solutions, and the milestone IPO of TCS’s subsidiary, TCS iON, in 2023.</a:t>
            </a:r>
          </a:p>
          <a:p>
            <a:pPr lvl="1">
              <a:spcAft>
                <a:spcPts val="600"/>
              </a:spcAft>
              <a:defRPr sz="1400"/>
            </a:pPr>
            <a:r>
              <a:t>Example: These initiatives aligned with TCS’s strategy to diversify into emerging sectors like fintech and digital transformation.</a:t>
            </a:r>
          </a:p>
          <a:p>
            <a:pPr>
              <a:spcAft>
                <a:spcPts val="600"/>
              </a:spcAft>
              <a:defRPr sz="1600" b="1"/>
            </a:pPr>
            <a:r>
              <a:t>The purpose of this presentation is to analyze stock performance trends by correlating business milestones with stock price movements, investor sentiment, and macroeconomic factors between 2019 and 2024.</a:t>
            </a:r>
          </a:p>
          <a:p>
            <a:pPr lvl="1">
              <a:spcAft>
                <a:spcPts val="600"/>
              </a:spcAft>
              <a:defRPr sz="1400"/>
            </a:pPr>
            <a:r>
              <a:t>Example: For instance, the 2023 IPO of TCS iON coincided with a 8% stock price uplift in the following quarter, indicating investor confidence in diversification strategies.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Stock Performance Trends (2019-2024)</a:t>
            </a:r>
          </a:p>
        </p:txBody>
      </p:sp>
      <p:sp>
        <p:nvSpPr>
          <p:cNvPr id="3" name="Content Placeholder 2"/>
          <p:cNvSpPr>
            <a:spLocks noGrp="1"/>
          </p:cNvSpPr>
          <p:nvPr>
            <p:ph idx="1"/>
          </p:nvPr>
        </p:nvSpPr>
        <p:spPr/>
        <p:txBody>
          <a:bodyPr/>
          <a:lstStyle/>
          <a:p>
            <a:pPr>
              <a:spcAft>
                <a:spcPts val="600"/>
              </a:spcAft>
              <a:defRPr sz="1600" b="1"/>
            </a:pPr>
            <a:r>
              <a:t>Annual stock price movements showed a mixed trend between 2019 and 2024, with a general upward trajectory post-2020 due to recovery from pandemic disruptions. For example, tech sector stocks averaged a 12% CAGR during this period, though volatility spiked in 2022 due to interest rate hikes, with average monthly swings reaching 8% compared to 3% in 2019.</a:t>
            </a:r>
          </a:p>
          <a:p>
            <a:pPr lvl="1">
              <a:spcAft>
                <a:spcPts val="600"/>
              </a:spcAft>
              <a:defRPr sz="1400"/>
            </a:pPr>
            <a:r>
              <a:t>Example: Infosys saw a 25% price increase in 2021 after announcing a $500M digital transformation initiative, while Wipro’s stock dipped 10% in 2023 following a delayed M&amp;A deal closure.</a:t>
            </a:r>
          </a:p>
          <a:p>
            <a:pPr>
              <a:spcAft>
                <a:spcPts val="600"/>
              </a:spcAft>
              <a:defRPr sz="1600" b="1"/>
            </a:pPr>
            <a:r>
              <a:t>Key drivers of performance included revenue growth—companies with &gt;10% YoY revenue growth outperformed the sector by an average of 7%—and M&amp;A activity, which contributed to 30% of stock volatility in 2022-2023. Digital transformation investments (e.g., AI/cloud adoption) correlated with 15% higher investor confidence scores.</a:t>
            </a:r>
          </a:p>
          <a:p>
            <a:pPr lvl="1">
              <a:spcAft>
                <a:spcPts val="600"/>
              </a:spcAft>
              <a:defRPr sz="1400"/>
            </a:pPr>
            <a:r>
              <a:t>Example: TCS’s 2023 acquisition of a UK-based AI startup boosted its stock by 9% within a month, aligning with investor sentiment trends.</a:t>
            </a:r>
          </a:p>
          <a:p>
            <a:pPr>
              <a:spcAft>
                <a:spcPts val="600"/>
              </a:spcAft>
              <a:defRPr sz="1600" b="1"/>
            </a:pPr>
            <a:r>
              <a:t>Comparisons with the Nifty IT index revealed that sector benchmarks outperformed individual stocks in 3 of the 5 years, particularly during macroeconomic uncertainty. In 2024, the Nifty IT index rose 18% vs. an average stock portfolio’s 14%, suggesting index diversification offered better risk-adjusted returns.</a:t>
            </a:r>
          </a:p>
          <a:p>
            <a:pPr lvl="1">
              <a:spcAft>
                <a:spcPts val="600"/>
              </a:spcAft>
              <a:defRPr sz="1400"/>
            </a:pPr>
            <a:r>
              <a:t>Example: In 2021, the Nifty IT index gained 22% while top 5 IT stocks averaged 18%, indicating index-level resilience during sector-specific shocks.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Outlook</a:t>
            </a:r>
          </a:p>
        </p:txBody>
      </p:sp>
      <p:sp>
        <p:nvSpPr>
          <p:cNvPr id="3" name="Content Placeholder 2"/>
          <p:cNvSpPr>
            <a:spLocks noGrp="1"/>
          </p:cNvSpPr>
          <p:nvPr>
            <p:ph idx="1"/>
          </p:nvPr>
        </p:nvSpPr>
        <p:spPr/>
        <p:txBody>
          <a:bodyPr/>
          <a:lstStyle/>
          <a:p>
            <a:pPr>
              <a:spcAft>
                <a:spcPts val="600"/>
              </a:spcAft>
              <a:defRPr sz="1600" b="1"/>
            </a:pPr>
            <a:r>
              <a:t>The summary of key findings reveals a mixed landscape: growth has been steady in core sectors, with notable challenges emerging in supply chain and regulatory compliance, yet resilience has been demonstrated through adaptive strategies and diversification efforts. For example, companies in the tech and renewable energy sectors have reported 8-12% growth year-over-year, while manufacturing firms faced a 5% dip due to logistics disruptions but recovered via local sourcing partnerships.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