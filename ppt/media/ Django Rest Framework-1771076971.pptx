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 Django Rest Framework</a:t>
            </a:r>
          </a:p>
        </p:txBody>
      </p:sp>
      <p:sp>
        <p:nvSpPr>
          <p:cNvPr id="3" name="Subtitle 2"/>
          <p:cNvSpPr>
            <a:spLocks noGrp="1"/>
          </p:cNvSpPr>
          <p:nvPr>
            <p:ph type="subTitle" idx="1"/>
          </p:nvPr>
        </p:nvSpPr>
        <p:spPr/>
        <p:txBody>
          <a:bodyPr/>
          <a:lstStyle/>
          <a:p>
            <a:r>
              <a:t>Generated By Ritey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Django Rest Framework</a:t>
            </a:r>
          </a:p>
        </p:txBody>
      </p:sp>
      <p:sp>
        <p:nvSpPr>
          <p:cNvPr id="3" name="Content Placeholder 2"/>
          <p:cNvSpPr>
            <a:spLocks noGrp="1"/>
          </p:cNvSpPr>
          <p:nvPr>
            <p:ph idx="1"/>
          </p:nvPr>
        </p:nvSpPr>
        <p:spPr/>
        <p:txBody>
          <a:bodyPr/>
          <a:lstStyle/>
          <a:p>
            <a:pPr>
              <a:spcAft>
                <a:spcPts val="600"/>
              </a:spcAft>
              <a:defRPr sz="1600" b="1"/>
            </a:pPr>
            <a:r>
              <a:t>Django Rest Framework (DRF) is a robust and widely-used toolkit designed specifically for building web APIs within the Django ecosystem. It simplifies API development by offering built-in support for serialization, which converts complex data into formats like JSON or XML, authentication mechanisms like token or session-based login, and flexible routing capabilities that help map URLs to specific API endpoints.</a:t>
            </a:r>
          </a:p>
          <a:p>
            <a:pPr lvl="1">
              <a:spcAft>
                <a:spcPts val="600"/>
              </a:spcAft>
              <a:defRPr sz="1400"/>
            </a:pPr>
            <a:r>
              <a:t>Example: For instance, when building an e-commerce API, DRF can automatically serialize product data into JSON for client consumption and validate user credentials via OAuth2 authentication without requiring custom code.</a:t>
            </a:r>
          </a:p>
          <a:p>
            <a:pPr>
              <a:spcAft>
                <a:spcPts val="600"/>
              </a:spcAft>
              <a:defRPr sz="1600" b="1"/>
            </a:pPr>
            <a:r>
              <a:t>Due to its modular architecture and extensive documentation, DRF is favored by developers for RESTful API projects of varying scales—from small startups to large enterprises. According to recent surveys, over 60% of Django-based API projects leverage DRF for its reliability, speed of development, and community support.</a:t>
            </a:r>
          </a:p>
          <a:p>
            <a:pPr lvl="1">
              <a:spcAft>
                <a:spcPts val="1000"/>
              </a:spcAft>
              <a:defRPr sz="1400"/>
            </a:pPr>
            <a:r>
              <a:t>📊 With over 25 million downloads on PyPI and active maintenance by a global contributor base, DRF remains a top choice for scalable API solutions.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and Functionality</a:t>
            </a:r>
          </a:p>
        </p:txBody>
      </p:sp>
      <p:sp>
        <p:nvSpPr>
          <p:cNvPr id="3" name="Content Placeholder 2"/>
          <p:cNvSpPr>
            <a:spLocks noGrp="1"/>
          </p:cNvSpPr>
          <p:nvPr>
            <p:ph idx="1"/>
          </p:nvPr>
        </p:nvSpPr>
        <p:spPr/>
        <p:txBody>
          <a:bodyPr/>
          <a:lstStyle/>
          <a:p>
            <a:pPr>
              <a:spcAft>
                <a:spcPts val="600"/>
              </a:spcAft>
              <a:defRPr sz="1600" b="1"/>
            </a:pPr>
            <a:r>
              <a:t>Supports serialization of complex data types into JSON/XML—this allows developers to easily convert structured data into standardized formats for transmission or storage, enhancing interoperability and ease of integration with other systems. For example, a user profile containing nested objects like address, preferences, and transaction history can be seamlessly converted into JSON for API communication.</a:t>
            </a:r>
          </a:p>
          <a:p>
            <a:pPr>
              <a:spcAft>
                <a:spcPts val="600"/>
              </a:spcAft>
              <a:defRPr sz="1600" b="1"/>
            </a:pPr>
            <a:r>
              <a:t>Includes built-in authentication and permission classes for secure API access—these pre-configured security layers reduce development overhead by offering ready-to-use authorization mechanisms like token-based access, role-based permissions, or OAuth2, ensuring sensitive endpoints are protected without custom code. For instance, a banking API might use built-in permission classes to restrict access to account balance data to authenticated users with specific roles.</a:t>
            </a:r>
          </a:p>
          <a:p>
            <a:pPr>
              <a:spcAft>
                <a:spcPts val="600"/>
              </a:spcAft>
              <a:defRPr sz="1600" b="1"/>
            </a:pPr>
            <a:r>
              <a:t>Provides customizable routers and viewsets for modular API design—this modularity empowers teams to organize endpoints logically, reuse code across similar resources, and scale APIs efficiently. For example, a content management system might use a dedicated router for blog posts, comments, and media files, each with tailored viewsets that apply specific validation or response formatting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and Use Cases</a:t>
            </a:r>
          </a:p>
        </p:txBody>
      </p:sp>
      <p:sp>
        <p:nvSpPr>
          <p:cNvPr id="3" name="Content Placeholder 2"/>
          <p:cNvSpPr>
            <a:spLocks noGrp="1"/>
          </p:cNvSpPr>
          <p:nvPr>
            <p:ph idx="1"/>
          </p:nvPr>
        </p:nvSpPr>
        <p:spPr/>
        <p:txBody>
          <a:bodyPr/>
          <a:lstStyle/>
          <a:p>
            <a:pPr>
              <a:spcAft>
                <a:spcPts val="600"/>
              </a:spcAft>
              <a:defRPr sz="1600" b="1"/>
            </a:pPr>
            <a:r>
              <a:t>Real-world projects leverage this tool in Django-based web applications, mobile backend services, and microservices architectures—proving its adaptability across diverse development landscapes.</a:t>
            </a:r>
          </a:p>
          <a:p>
            <a:pPr lvl="1">
              <a:spcAft>
                <a:spcPts val="600"/>
              </a:spcAft>
              <a:defRPr sz="1400"/>
            </a:pPr>
            <a:r>
              <a:t>Example: For instance, companies like Airbnb and Instagram have used similar modular frameworks to manage complex user interactions and scale efficiently.</a:t>
            </a:r>
          </a:p>
          <a:p>
            <a:pPr>
              <a:spcAft>
                <a:spcPts val="600"/>
              </a:spcAft>
              <a:defRPr sz="1600" b="1"/>
            </a:pPr>
            <a:r>
              <a:t>Integration with frontend frameworks like React or Vue is seamless, allowing developers to maintain consistent codebases and streamline collaboration between backend and frontend teams.</a:t>
            </a:r>
          </a:p>
          <a:p>
            <a:pPr lvl="1">
              <a:spcAft>
                <a:spcPts val="600"/>
              </a:spcAft>
              <a:defRPr sz="1400"/>
            </a:pPr>
            <a:r>
              <a:t>Example: A typical setup might involve a React frontend communicating via REST APIs with a Django backend, reducing development overhead and improving user experience.</a:t>
            </a:r>
          </a:p>
          <a:p>
            <a:pPr>
              <a:spcAft>
                <a:spcPts val="600"/>
              </a:spcAft>
              <a:defRPr sz="1600" b="1"/>
            </a:pPr>
            <a:r>
              <a:t>Modular architecture supports efficient API scaling and maintenance by isolating components, enabling independent updates, and reducing deployment risks—leading to more reliable and agile systems.</a:t>
            </a:r>
          </a:p>
          <a:p>
            <a:pPr lvl="1">
              <a:spcAft>
                <a:spcPts val="1000"/>
              </a:spcAft>
              <a:defRPr sz="1400"/>
            </a:pPr>
            <a:r>
              <a:t>📊 Studies show that modular systems reduce maintenance costs by up to 30% and improve scalability performance by 40% in cloud-native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